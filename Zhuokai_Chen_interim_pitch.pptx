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61" r:id="rId7"/>
    <p:sldId id="259" r:id="rId8"/>
    <p:sldId id="260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34" autoAdjust="0"/>
  </p:normalViewPr>
  <p:slideViewPr>
    <p:cSldViewPr snapToGrid="0" showGuides="1">
      <p:cViewPr varScale="1">
        <p:scale>
          <a:sx n="73" d="100"/>
          <a:sy n="73" d="100"/>
        </p:scale>
        <p:origin x="76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10CA3-9998-4CFF-B7D5-3B2626CD27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22794-F2E2-4F9A-9933-B1DFEE5EF8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Network as time-varying graph snapshots </a:t>
                </a:r>
                <a14:m>
                  <m:oMath xmlns:m="http://schemas.openxmlformats.org/officeDocument/2006/math"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 = (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sampled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Δ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seconds. Nodes = LEO satellites + ground stations. Edges exist when elevation </a:t>
                </a:r>
                <a14:m>
                  <m:oMath xmlns:m="http://schemas.openxmlformats.org/officeDocument/2006/math"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≥ 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min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and range </a:t>
                </a:r>
                <a14:m>
                  <m:oMath xmlns:m="http://schemas.openxmlformats.org/officeDocument/2006/math"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≤ 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kumimoji="0" lang="zh-CN" altLang="zh-CN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max</m:t>
                    </m:r>
                    <m:r>
                      <a:rPr kumimoji="0" lang="zh-CN" alt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kumimoji="0" lang="zh-CN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 Edge weights combine propagation delay + reliability penalty (SNR proxy). Additive noise models fading/interference. 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22794-F2E2-4F9A-9933-B1DFEE5EF8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22794-F2E2-4F9A-9933-B1DFEE5EF8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22794-F2E2-4F9A-9933-B1DFEE5EF8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8830" y="742717"/>
            <a:ext cx="10314339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Project 5: </a:t>
            </a:r>
            <a:br>
              <a:rPr lang="en-US" altLang="zh-CN" dirty="0"/>
            </a:br>
            <a:r>
              <a:rPr lang="en-US" altLang="zh-CN" dirty="0"/>
              <a:t>LEO + Terrestrial Integrated Routing with Prediction-Aware Handover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99" y="3734941"/>
            <a:ext cx="9144000" cy="2540496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Interim Pitch</a:t>
            </a:r>
            <a:endParaRPr lang="en-US" altLang="zh-CN" sz="4000" b="1" dirty="0"/>
          </a:p>
          <a:p>
            <a:r>
              <a:rPr lang="en-US" altLang="zh-CN" dirty="0" err="1"/>
              <a:t>Zhuokai</a:t>
            </a:r>
            <a:r>
              <a:rPr lang="en-US" altLang="zh-CN" dirty="0"/>
              <a:t> Chen (123090057) </a:t>
            </a:r>
            <a:endParaRPr lang="en-US" altLang="zh-CN" dirty="0"/>
          </a:p>
          <a:p>
            <a:r>
              <a:rPr lang="en-US" altLang="zh-CN" dirty="0" err="1"/>
              <a:t>Yiyu</a:t>
            </a:r>
            <a:r>
              <a:rPr lang="en-US" altLang="zh-CN" dirty="0"/>
              <a:t> Ren (122090445) </a:t>
            </a:r>
            <a:endParaRPr lang="en-US" altLang="zh-CN" dirty="0"/>
          </a:p>
          <a:p>
            <a:r>
              <a:rPr lang="en-US" altLang="zh-CN" dirty="0"/>
              <a:t>Zhangcheng Kang (122090873) </a:t>
            </a:r>
            <a:endParaRPr lang="en-US" altLang="zh-CN" dirty="0"/>
          </a:p>
          <a:p>
            <a:r>
              <a:rPr lang="en-US" altLang="zh-CN" dirty="0"/>
              <a:t>Kudzai </a:t>
            </a:r>
            <a:r>
              <a:rPr lang="en-US" altLang="zh-CN" dirty="0" err="1"/>
              <a:t>Dandadzi</a:t>
            </a:r>
            <a:r>
              <a:rPr lang="en-US" altLang="zh-CN" dirty="0"/>
              <a:t> (122010002)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+ Artifact + Metrics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82359" y="1690688"/>
            <a:ext cx="10204402" cy="4651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LEO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(low Earth orbit)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satellite visibility windows change on the order of seconds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 routing picks paths that are about to break, causing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outages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excessive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handovers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Artifact: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time-varying LEO–ground network simulator with prediction-aware routing/handover policies that optimize over a short forecast horizon.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Frontier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latin typeface="Arial" panose="020B0604020202020204" pitchFamily="34" charset="0"/>
              </a:rPr>
              <a:t>Outage probability</a:t>
            </a:r>
            <a:r>
              <a:rPr lang="en-US" altLang="zh-CN" sz="2000" dirty="0">
                <a:latin typeface="Arial" panose="020B0604020202020204" pitchFamily="34" charset="0"/>
              </a:rPr>
              <a:t>: </a:t>
            </a:r>
            <a:r>
              <a:rPr lang="zh-CN" altLang="zh-CN" sz="2000" dirty="0">
                <a:latin typeface="Arial" panose="020B0604020202020204" pitchFamily="34" charset="0"/>
              </a:rPr>
              <a:t>fraction of timesteps with no feasible pat</a:t>
            </a:r>
            <a:r>
              <a:rPr lang="en-US" altLang="zh-CN" sz="2000" dirty="0">
                <a:latin typeface="Arial" panose="020B0604020202020204" pitchFamily="34" charset="0"/>
              </a:rPr>
              <a:t>h</a:t>
            </a:r>
            <a:r>
              <a:rPr lang="zh-CN" altLang="zh-CN" sz="2000" dirty="0">
                <a:latin typeface="Arial" panose="020B0604020202020204" pitchFamily="34" charset="0"/>
              </a:rPr>
              <a:t> 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latin typeface="Arial" panose="020B0604020202020204" pitchFamily="34" charset="0"/>
              </a:rPr>
              <a:t>95th-percentile latency</a:t>
            </a:r>
            <a:r>
              <a:rPr lang="en-US" altLang="zh-CN" sz="2000" dirty="0">
                <a:latin typeface="Arial" panose="020B0604020202020204" pitchFamily="34" charset="0"/>
              </a:rPr>
              <a:t>: tail end-to-end delay across delivered packets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latin typeface="Arial" panose="020B0604020202020204" pitchFamily="34" charset="0"/>
              </a:rPr>
              <a:t>Handover rate </a:t>
            </a:r>
            <a:r>
              <a:rPr lang="zh-CN" altLang="zh-CN" sz="2000" dirty="0">
                <a:latin typeface="Arial" panose="020B0604020202020204" pitchFamily="34" charset="0"/>
              </a:rPr>
              <a:t>(per minute)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Technical Core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1513523"/>
                <a:ext cx="11104841" cy="51136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Model: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Network as </a:t>
                </a: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 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time-varying </a:t>
                </a:r>
                <a:r>
                  <a:rPr kumimoji="0" lang="zh-CN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graph</a:t>
                </a: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 = (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 </a:t>
                </a:r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Nodes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= LEO satellites + ground stations. </a:t>
                </a:r>
                <a:endPara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Edges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exist when elevation </a:t>
                </a:r>
                <a14:m>
                  <m:oMath xmlns:m="http://schemas.openxmlformats.org/officeDocument/2006/math"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≥ 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min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and range </a:t>
                </a:r>
                <a14:m>
                  <m:oMath xmlns:m="http://schemas.openxmlformats.org/officeDocument/2006/math"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≤ 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kumimoji="0" lang="zh-CN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max</m:t>
                    </m:r>
                    <m:r>
                      <a:rPr kumimoji="0" lang="zh-CN" alt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 Edge </a:t>
                </a:r>
                <a:r>
                  <a:rPr kumimoji="0" lang="zh-CN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weights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combine propagation delay + reliability penalty (SNR proxy)</a:t>
                </a:r>
                <a:r>
                  <a:rPr kumimoji="0" lang="en-US" altLang="zh-CN" sz="20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with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</a:rPr>
                  <a:t>a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dditive noise models fading/interference. </a:t>
                </a:r>
                <a:endPara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Methodolog</a:t>
                </a:r>
                <a:r>
                  <a:rPr kumimoji="0" lang="en-US" altLang="zh-CN" sz="20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ie</a:t>
                </a:r>
                <a:r>
                  <a:rPr kumimoji="0" lang="zh-CN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s: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b="1" dirty="0">
                    <a:latin typeface="Arial" panose="020B0604020202020204" pitchFamily="34" charset="0"/>
                  </a:rPr>
                  <a:t>Graph theory</a:t>
                </a:r>
                <a:r>
                  <a:rPr lang="zh-CN" altLang="zh-CN" sz="2000" dirty="0">
                    <a:latin typeface="Arial" panose="020B0604020202020204" pitchFamily="34" charset="0"/>
                  </a:rPr>
                  <a:t>: snapshot shortest paths + time-expanded graph for look-ahead </a:t>
                </a:r>
                <a:endParaRPr lang="zh-CN" altLang="zh-CN" sz="2000" dirty="0">
                  <a:latin typeface="Arial" panose="020B0604020202020204" pitchFamily="34" charset="0"/>
                </a:endParaRP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b="1" dirty="0">
                    <a:latin typeface="Arial" panose="020B0604020202020204" pitchFamily="34" charset="0"/>
                  </a:rPr>
                  <a:t>Stochastic modeling</a:t>
                </a:r>
                <a:r>
                  <a:rPr lang="zh-CN" altLang="zh-CN" sz="2000" dirty="0">
                    <a:latin typeface="Arial" panose="020B0604020202020204" pitchFamily="34" charset="0"/>
                  </a:rPr>
                  <a:t>: </a:t>
                </a:r>
                <a:r>
                  <a:rPr lang="en-US" altLang="zh-CN" sz="2000" dirty="0">
                    <a:latin typeface="Arial" panose="020B0604020202020204" pitchFamily="34" charset="0"/>
                  </a:rPr>
                  <a:t>simulate randomness</a:t>
                </a:r>
                <a:endParaRPr lang="zh-CN" altLang="zh-CN" sz="2000" dirty="0">
                  <a:latin typeface="Arial" panose="020B0604020202020204" pitchFamily="34" charset="0"/>
                </a:endParaRPr>
              </a:p>
              <a:p>
                <a:pPr lvl="1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b="1" dirty="0">
                    <a:latin typeface="Arial" panose="020B0604020202020204" pitchFamily="34" charset="0"/>
                  </a:rPr>
                  <a:t>Optimization</a:t>
                </a:r>
                <a:r>
                  <a:rPr lang="zh-CN" altLang="zh-CN" sz="2000" dirty="0">
                    <a:latin typeface="Arial" panose="020B0604020202020204" pitchFamily="34" charset="0"/>
                  </a:rPr>
                  <a:t>: </a:t>
                </a:r>
                <a:r>
                  <a:rPr lang="en-US" altLang="zh-CN" sz="2000" dirty="0">
                    <a:latin typeface="Arial" panose="020B0604020202020204" pitchFamily="34" charset="0"/>
                  </a:rPr>
                  <a:t>trade off outage probability, latency, and handover</a:t>
                </a:r>
                <a:endParaRPr lang="zh-CN" altLang="zh-CN" sz="2000" dirty="0"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Implementation:</a:t>
                </a: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Python + NetworkX </a:t>
                </a:r>
                <a:endPara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513523"/>
                <a:ext cx="11104841" cy="5113644"/>
              </a:xfrm>
              <a:prstGeom prst="rect">
                <a:avLst/>
              </a:prstGeom>
              <a:blipFill rotWithShape="1">
                <a:blip r:embed="rId1"/>
                <a:stretch>
                  <a:fillRect t="-714" r="5" b="-7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316" y="3500507"/>
            <a:ext cx="4250724" cy="72842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Baselines + Evaluation Plan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49177"/>
            <a:ext cx="10824275" cy="51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>
                <a:latin typeface="Arial" panose="020B0604020202020204" pitchFamily="34" charset="0"/>
              </a:rPr>
              <a:t>Reactive shortest path (Dijkstra on current snapshot) 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>
                <a:latin typeface="Arial" panose="020B0604020202020204" pitchFamily="34" charset="0"/>
              </a:rPr>
              <a:t>Greedy handover (attach to best visible satellite, ignore future) 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predictor </a:t>
            </a:r>
            <a:r>
              <a:rPr lang="en-US" altLang="zh-CN" sz="2000" b="1" dirty="0">
                <a:latin typeface="Arial" panose="020B0604020202020204" pitchFamily="34" charset="0"/>
              </a:rPr>
              <a:t>(frontier)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Minimize predicted cost over horizon H with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handover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penalty: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 sweeps: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>
                <a:latin typeface="Arial" panose="020B0604020202020204" pitchFamily="34" charset="0"/>
              </a:rPr>
              <a:t>Scale/geometry: vary satellite count, plane count, ISL</a:t>
            </a:r>
            <a:r>
              <a:rPr lang="en-US" altLang="zh-CN" sz="2000" dirty="0">
                <a:latin typeface="Arial" panose="020B0604020202020204" pitchFamily="34" charset="0"/>
              </a:rPr>
              <a:t> (inter-satellite link)</a:t>
            </a:r>
            <a:r>
              <a:rPr lang="zh-CN" altLang="zh-CN" sz="2000" dirty="0">
                <a:latin typeface="Arial" panose="020B0604020202020204" pitchFamily="34" charset="0"/>
              </a:rPr>
              <a:t> radius 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>
                <a:latin typeface="Arial" panose="020B0604020202020204" pitchFamily="34" charset="0"/>
              </a:rPr>
              <a:t>Stress: random link/satellite failures, noisy costs 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>
                <a:latin typeface="Arial" panose="020B0604020202020204" pitchFamily="34" charset="0"/>
              </a:rPr>
              <a:t>Forecast quality: inject 10%/30%/50% forecast error → robustness curves 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Outage prob, latency CDFs (p50/p95), handover stats with confidence intervals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Milestones + Risks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91887" y="1258738"/>
            <a:ext cx="11652068" cy="5995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Milestones: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Simulator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G(t)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generator + link-cost model, sanity checks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Baselines + harness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reactive shortest path + greedy handover, metric logging/plotting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Prediction-aware policy + eval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horizon-H controller, forecast-error robustness sweeps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risks &amp; mitigation: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Arial" panose="020B0604020202020204" pitchFamily="34" charset="0"/>
              </a:rPr>
              <a:t>Risk 1: P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erfect simulator modeling costs too much time</a:t>
            </a:r>
            <a:b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Mitigation: </a:t>
            </a:r>
            <a:r>
              <a:rPr lang="zh-CN" altLang="zh-CN" sz="2000" dirty="0">
                <a:latin typeface="Arial" panose="020B0604020202020204" pitchFamily="34" charset="0"/>
              </a:rPr>
              <a:t>start simple</a:t>
            </a:r>
            <a:r>
              <a:rPr lang="en-US" altLang="zh-CN" sz="2000" dirty="0">
                <a:latin typeface="Arial" panose="020B0604020202020204" pitchFamily="34" charset="0"/>
              </a:rPr>
              <a:t> &amp; </a:t>
            </a:r>
            <a:r>
              <a:rPr lang="zh-CN" altLang="zh-CN" sz="2000" dirty="0">
                <a:latin typeface="Arial" panose="020B0604020202020204" pitchFamily="34" charset="0"/>
              </a:rPr>
              <a:t>testable</a:t>
            </a:r>
            <a:r>
              <a:rPr lang="en-US" altLang="zh-CN" sz="2000" dirty="0">
                <a:latin typeface="Arial" panose="020B0604020202020204" pitchFamily="34" charset="0"/>
              </a:rPr>
              <a:t> and </a:t>
            </a:r>
            <a:r>
              <a:rPr lang="zh-CN" altLang="zh-CN" sz="2000" dirty="0">
                <a:latin typeface="Arial" panose="020B0604020202020204" pitchFamily="34" charset="0"/>
              </a:rPr>
              <a:t>add </a:t>
            </a:r>
            <a:r>
              <a:rPr kumimoji="0" lang="zh-CN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realism (e.g., SGP4) only after baseline is stable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zh-CN" altLang="zh-CN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2: </a:t>
            </a:r>
            <a:r>
              <a:rPr kumimoji="0" lang="zh-CN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errors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edge cases</a:t>
            </a:r>
            <a:b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Mitigation:</a:t>
            </a:r>
            <a:r>
              <a:rPr kumimoji="0" lang="zh-CN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controller degrades gracefully (bounded horizon, limited switching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</a:t>
            </a:r>
            <a:r>
              <a:rPr kumimoji="0" lang="zh-CN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benchmark break-even accuracy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zh-CN" altLang="zh-CN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Arial" panose="020B0604020202020204" pitchFamily="34" charset="0"/>
              </a:rPr>
              <a:t>Risk 3: </a:t>
            </a:r>
            <a:r>
              <a:rPr kumimoji="0" lang="zh-CN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 to one scenario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Mitigation: </a:t>
            </a:r>
            <a:r>
              <a:rPr kumimoji="0" lang="zh-CN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across diverse constellations/stressors, report robustness curves</a:t>
            </a:r>
            <a:r>
              <a:rPr kumimoji="0" lang="en-US" altLang="zh-CN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zh-CN" altLang="zh-CN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Verification Plan + Fail-Soft Fallback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06137"/>
            <a:ext cx="10366829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Ablation: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with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oracle forecasts vs. noisy forecasts vs. no forecasts (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Robustness plot: outage &amp; p95 latency as function of injected forecast error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Sanity: as forecast error → 100%, performance must approach reactive baseline; flag any regime where look-ahead hurts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Fail-soft fallback: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learned predictor is unreliable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 simulator + prediction-aware controller using a simple hand-crafted (geometry-extrapolation) predictor, with full baseline comparisons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790" y="3023870"/>
            <a:ext cx="10515600" cy="1640840"/>
          </a:xfrm>
        </p:spPr>
        <p:txBody>
          <a:bodyPr>
            <a:normAutofit fontScale="90000"/>
          </a:bodyPr>
          <a:p>
            <a:pPr algn="ctr"/>
            <a:r>
              <a:rPr lang="en-US" sz="9780">
                <a:sym typeface="+mn-ea"/>
              </a:rPr>
              <a:t>Thank You</a:t>
            </a:r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3100</Words>
  <Application>WPS Presentation</Application>
  <PresentationFormat>宽屏</PresentationFormat>
  <Paragraphs>65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Cambria Math</vt:lpstr>
      <vt:lpstr>Kingsoft Math</vt:lpstr>
      <vt:lpstr>Calibri</vt:lpstr>
      <vt:lpstr>Helvetica Neue</vt:lpstr>
      <vt:lpstr>Microsoft YaHei</vt:lpstr>
      <vt:lpstr>汉仪旗黑</vt:lpstr>
      <vt:lpstr>Arial Unicode MS</vt:lpstr>
      <vt:lpstr>等线</vt:lpstr>
      <vt:lpstr>宋体-简</vt:lpstr>
      <vt:lpstr>DejaVu Math TeX Gyre</vt:lpstr>
      <vt:lpstr>WPS</vt:lpstr>
      <vt:lpstr>Project 5:  LEO + Terrestrial Integrated Routing with Prediction-Aware Handover</vt:lpstr>
      <vt:lpstr>Problem + Artifact + Metrics</vt:lpstr>
      <vt:lpstr>Technical Core</vt:lpstr>
      <vt:lpstr>Baselines + Evaluation Plan</vt:lpstr>
      <vt:lpstr>Milestones + Risks</vt:lpstr>
      <vt:lpstr>Verification Plan + Fail-Soft Fallback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Kang</dc:creator>
  <cp:lastModifiedBy>codyoutcast</cp:lastModifiedBy>
  <cp:revision>25</cp:revision>
  <dcterms:created xsi:type="dcterms:W3CDTF">2026-04-09T12:05:08Z</dcterms:created>
  <dcterms:modified xsi:type="dcterms:W3CDTF">2026-04-09T12:05:08Z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1033-5.4.4.8063</vt:lpwstr>
  </property>
</Properties>
</file>